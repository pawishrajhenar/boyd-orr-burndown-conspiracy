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406640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790688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174736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58784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42832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0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10928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94976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79024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863072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247120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631167" y="320040"/>
            <a:ext cx="0" cy="502920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60920" y="50292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109728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60920" y="169164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28600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60920" y="288036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347472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60920" y="406908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4663440"/>
            <a:ext cx="4480560" cy="0"/>
          </a:xfrm>
          <a:prstGeom prst="line">
            <a:avLst/>
          </a:prstGeom>
          <a:ln w="8890">
            <a:solidFill>
              <a:srgbClr val="11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713232"/>
            <a:ext cx="5760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P5  /  VISUALISATION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325880"/>
            <a:ext cx="6492240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5F7FB"/>
                </a:solidFill>
                <a:latin typeface="Aptos"/>
              </a:rPr>
              <a:t>Make the evidence
click into place.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246120"/>
            <a:ext cx="6217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D166"/>
                </a:solidFill>
                <a:latin typeface="Aptos"/>
              </a:rPr>
              <a:t>Map · Timeline ·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822191"/>
            <a:ext cx="557784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A8B3C7"/>
                </a:solidFill>
                <a:latin typeface="Aptos"/>
              </a:rPr>
              <a:t>A clear, interactive view of where people went,
when they moved, and who they met.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0" y="2148840"/>
            <a:ext cx="640080" cy="640080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8046720" y="1645920"/>
            <a:ext cx="1600200" cy="822960"/>
          </a:xfrm>
          <a:prstGeom prst="line">
            <a:avLst/>
          </a:prstGeom>
          <a:ln w="17780">
            <a:solidFill>
              <a:srgbClr val="41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854696" y="1453896"/>
            <a:ext cx="384048" cy="384048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8458200" y="2468880"/>
            <a:ext cx="1188720" cy="1371600"/>
          </a:xfrm>
          <a:prstGeom prst="line">
            <a:avLst/>
          </a:prstGeom>
          <a:ln w="17780">
            <a:solidFill>
              <a:srgbClr val="41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66175" y="3648456"/>
            <a:ext cx="384048" cy="384048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9646920" y="1417320"/>
            <a:ext cx="1051560" cy="1051560"/>
          </a:xfrm>
          <a:prstGeom prst="line">
            <a:avLst/>
          </a:prstGeom>
          <a:ln w="17780">
            <a:solidFill>
              <a:srgbClr val="41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506455" y="1225296"/>
            <a:ext cx="384048" cy="384048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646920" y="2468880"/>
            <a:ext cx="1417320" cy="914400"/>
          </a:xfrm>
          <a:prstGeom prst="line">
            <a:avLst/>
          </a:prstGeom>
          <a:ln w="17780">
            <a:solidFill>
              <a:srgbClr val="41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872215" y="3191256"/>
            <a:ext cx="384048" cy="384048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7909560" y="2468880"/>
            <a:ext cx="1737360" cy="1737360"/>
          </a:xfrm>
          <a:prstGeom prst="line">
            <a:avLst/>
          </a:prstGeom>
          <a:ln w="17780">
            <a:solidFill>
              <a:srgbClr val="41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717536" y="4014215"/>
            <a:ext cx="384048" cy="384048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9646920" y="2468880"/>
            <a:ext cx="1371600" cy="2103120"/>
          </a:xfrm>
          <a:prstGeom prst="line">
            <a:avLst/>
          </a:prstGeom>
          <a:ln w="17780">
            <a:solidFill>
              <a:srgbClr val="41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826496" y="4379976"/>
            <a:ext cx="384048" cy="384048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2834640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D166"/>
                </a:solidFill>
                <a:latin typeface="Aptos"/>
              </a:rPr>
              <a:t>CLEAN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349240"/>
            <a:ext cx="448056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A8B3C7"/>
                </a:solidFill>
                <a:latin typeface="Aptos"/>
              </a:rPr>
              <a:t>Six distinct contacts · meetings across places and times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5897880"/>
            <a:ext cx="10744200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9808" y="614476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A8B3C7"/>
                </a:solidFill>
                <a:latin typeface="Aptos"/>
              </a:rPr>
              <a:t>PRESENTED BY PAWISH  ·  PERSON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6519672"/>
            <a:ext cx="106070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D166"/>
                </a:solidFill>
                <a:latin typeface="Aptos"/>
              </a:rPr>
              <a:t>TALK TRACK  ·  “My part turns the case data into three views that answer where, when, and who.”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01 · WHY VISUALISE?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The problem: evidence is hard to see in raw logs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“The logs are lists. My job is to let an investigator spot patterns and inspect the evidence behind them.”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3017520" cy="3977639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RAW INPUT</a:t>
            </a:r>
          </a:p>
        </p:txBody>
      </p:sp>
      <p:sp>
        <p:nvSpPr>
          <p:cNvPr id="11" name="Oval 10"/>
          <p:cNvSpPr/>
          <p:nvPr/>
        </p:nvSpPr>
        <p:spPr>
          <a:xfrm>
            <a:off x="987551" y="2505456"/>
            <a:ext cx="109728" cy="109728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04872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A8B3C7"/>
                </a:solidFill>
                <a:latin typeface="Aptos"/>
              </a:rPr>
              <a:t>Student · Building · Time</a:t>
            </a:r>
          </a:p>
        </p:txBody>
      </p:sp>
      <p:sp>
        <p:nvSpPr>
          <p:cNvPr id="13" name="Oval 12"/>
          <p:cNvSpPr/>
          <p:nvPr/>
        </p:nvSpPr>
        <p:spPr>
          <a:xfrm>
            <a:off x="987551" y="3072384"/>
            <a:ext cx="109728" cy="109728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971800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A8B3C7"/>
                </a:solidFill>
                <a:latin typeface="Aptos"/>
              </a:rPr>
              <a:t>Repeated access rows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1" y="3639312"/>
            <a:ext cx="109728" cy="109728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538728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A8B3C7"/>
                </a:solidFill>
                <a:latin typeface="Aptos"/>
              </a:rPr>
              <a:t>Meetings are implied</a:t>
            </a:r>
          </a:p>
        </p:txBody>
      </p:sp>
      <p:sp>
        <p:nvSpPr>
          <p:cNvPr id="17" name="Oval 16"/>
          <p:cNvSpPr/>
          <p:nvPr/>
        </p:nvSpPr>
        <p:spPr>
          <a:xfrm>
            <a:off x="987551" y="4206240"/>
            <a:ext cx="109728" cy="109728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105656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A8B3C7"/>
                </a:solidFill>
                <a:latin typeface="Aptos"/>
              </a:rPr>
              <a:t>Overnight times wrap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23774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F5F7FB"/>
                </a:solidFill>
                <a:latin typeface="Aptos"/>
              </a:rPr>
              <a:t>662 access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9496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one day · 163 students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593592"/>
            <a:ext cx="960120" cy="0"/>
          </a:xfrm>
          <a:prstGeom prst="line">
            <a:avLst/>
          </a:prstGeom>
          <a:ln w="3048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9744" y="3511296"/>
            <a:ext cx="164592" cy="164592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315468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EC4B6"/>
                </a:solidFill>
                <a:latin typeface="Aptos"/>
              </a:rPr>
              <a:t>P5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1645920"/>
            <a:ext cx="6263640" cy="3977639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1920240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THREE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2487168"/>
            <a:ext cx="5440680" cy="62179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87568" y="2679192"/>
            <a:ext cx="237744" cy="23774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2560320"/>
            <a:ext cx="11887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Aptos"/>
              </a:rPr>
              <a:t>WHERE?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56032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Campus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355848"/>
            <a:ext cx="5440680" cy="62179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87568" y="3547872"/>
            <a:ext cx="237744" cy="237744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3429000"/>
            <a:ext cx="11887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D166"/>
                </a:solidFill>
                <a:latin typeface="Aptos"/>
              </a:rPr>
              <a:t>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42900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Day timeline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2120" y="4224528"/>
            <a:ext cx="5440680" cy="62179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87568" y="4416552"/>
            <a:ext cx="237744" cy="237744"/>
          </a:xfrm>
          <a:prstGeom prst="ellipse">
            <a:avLst/>
          </a:prstGeom>
          <a:solidFill>
            <a:srgbClr val="9B5DE5"/>
          </a:solidFill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297680"/>
            <a:ext cx="11887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9B5DE5"/>
                </a:solidFill>
                <a:latin typeface="Aptos"/>
              </a:rPr>
              <a:t>WHO?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29768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Meeting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02 · WHAT P5 OWNS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My part: three views, one shared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“All three pages read the same case contract, so the map, timeline, and network stay consistent.”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3401568" cy="2423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121408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560320"/>
            <a:ext cx="2880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Where did movement happen?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7" y="3310128"/>
            <a:ext cx="2935225" cy="0"/>
          </a:xfrm>
          <a:prstGeom prst="line">
            <a:avLst/>
          </a:prstGeom>
          <a:ln w="1651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8407" y="352044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3C7"/>
                </a:solidFill>
                <a:latin typeface="Aptos"/>
              </a:rPr>
              <a:t>Buildings · occupants ·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874519"/>
            <a:ext cx="3401568" cy="2423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121408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Aptos"/>
              </a:rPr>
              <a:t>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60320"/>
            <a:ext cx="2880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When did it happen?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27448" y="3310128"/>
            <a:ext cx="2935223" cy="0"/>
          </a:xfrm>
          <a:prstGeom prst="line">
            <a:avLst/>
          </a:prstGeom>
          <a:ln w="1651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27448" y="352044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3C7"/>
                </a:solidFill>
                <a:latin typeface="Aptos"/>
              </a:rPr>
              <a:t>Visits · flags · replay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874519"/>
            <a:ext cx="3401568" cy="2423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121408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B5DE5"/>
                </a:solidFill>
                <a:latin typeface="Aptos"/>
              </a:rPr>
              <a:t>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560320"/>
            <a:ext cx="2880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Who met whom?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6488" y="3310128"/>
            <a:ext cx="2935224" cy="0"/>
          </a:xfrm>
          <a:prstGeom prst="line">
            <a:avLst/>
          </a:prstGeom>
          <a:ln w="1651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76488" y="352044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3C7"/>
                </a:solidFill>
                <a:latin typeface="Aptos"/>
              </a:rPr>
              <a:t>People · meetings · reveal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645152"/>
            <a:ext cx="10927080" cy="932688"/>
          </a:xfrm>
          <a:prstGeom prst="roundRect">
            <a:avLst>
              <a:gd name="adj" fmla="val 12000"/>
            </a:avLst>
          </a:prstGeom>
          <a:solidFill>
            <a:srgbClr val="132039"/>
          </a:solidFill>
          <a:ln>
            <a:solidFill>
              <a:srgbClr val="23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37176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Shared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791456"/>
            <a:ext cx="81381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F7FB"/>
                </a:solidFill>
                <a:latin typeface="Aptos"/>
              </a:rPr>
              <a:t>Case data  →  D3 visualisation  →  investigator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03 · WHERE?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Map · see the campus movement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“On the map, I can scrub to a time, inspect a building, or follow one student’s path through the day.”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27632"/>
            <a:ext cx="6995160" cy="4133087"/>
          </a:xfrm>
          <a:prstGeom prst="roundRect">
            <a:avLst>
              <a:gd name="adj" fmla="val 12000"/>
            </a:avLst>
          </a:prstGeom>
          <a:solidFill>
            <a:srgbClr val="0D1727"/>
          </a:solidFill>
          <a:ln>
            <a:solidFill>
              <a:srgbClr val="24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CAMPUS 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2743200"/>
            <a:ext cx="6172200" cy="1554480"/>
          </a:xfrm>
          <a:prstGeom prst="line">
            <a:avLst/>
          </a:prstGeom>
          <a:ln w="63500">
            <a:solidFill>
              <a:srgbClr val="25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7280" y="2560320"/>
            <a:ext cx="5852160" cy="1920240"/>
          </a:xfrm>
          <a:prstGeom prst="line">
            <a:avLst/>
          </a:prstGeom>
          <a:ln w="63500">
            <a:solidFill>
              <a:srgbClr val="25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" y="2286000"/>
            <a:ext cx="4389120" cy="3017520"/>
          </a:xfrm>
          <a:prstGeom prst="line">
            <a:avLst/>
          </a:prstGeom>
          <a:ln w="63500">
            <a:solidFill>
              <a:srgbClr val="25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05840" y="2834640"/>
            <a:ext cx="6126480" cy="2240280"/>
          </a:xfrm>
          <a:prstGeom prst="line">
            <a:avLst/>
          </a:prstGeom>
          <a:ln w="63500">
            <a:solidFill>
              <a:srgbClr val="25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81328" y="2670048"/>
            <a:ext cx="1234440" cy="43891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81912" y="2816352"/>
            <a:ext cx="128016" cy="128016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55648" y="2734056"/>
            <a:ext cx="10241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Boyd Orr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72968" y="2304288"/>
            <a:ext cx="1234440" cy="43891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73552" y="2450592"/>
            <a:ext cx="128016" cy="128016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368296"/>
            <a:ext cx="10241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Library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3208" y="2761488"/>
            <a:ext cx="1234440" cy="43891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93792" y="2907792"/>
            <a:ext cx="128016" cy="128016"/>
          </a:xfrm>
          <a:prstGeom prst="ellipse">
            <a:avLst/>
          </a:prstGeom>
          <a:solidFill>
            <a:srgbClr val="9B5DE5"/>
          </a:solidFill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7528" y="2825496"/>
            <a:ext cx="10241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QMU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0048" y="4087368"/>
            <a:ext cx="1234440" cy="43891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70632" y="4233672"/>
            <a:ext cx="128016" cy="128016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44368" y="4151376"/>
            <a:ext cx="10241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Kelvingrove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41848" y="4133087"/>
            <a:ext cx="1234440" cy="438912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42431" y="4279392"/>
            <a:ext cx="128016" cy="128016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16168" y="4197096"/>
            <a:ext cx="10241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The Hive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828800" y="2514600"/>
            <a:ext cx="1691640" cy="365760"/>
          </a:xfrm>
          <a:prstGeom prst="line">
            <a:avLst/>
          </a:prstGeom>
          <a:ln w="15240">
            <a:solidFill>
              <a:srgbClr val="6C8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20440" y="2514600"/>
            <a:ext cx="1920240" cy="457200"/>
          </a:xfrm>
          <a:prstGeom prst="line">
            <a:avLst/>
          </a:prstGeom>
          <a:ln w="15240">
            <a:solidFill>
              <a:srgbClr val="6C8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40680" y="2971800"/>
            <a:ext cx="548640" cy="1371600"/>
          </a:xfrm>
          <a:prstGeom prst="line">
            <a:avLst/>
          </a:prstGeom>
          <a:ln w="15240">
            <a:solidFill>
              <a:srgbClr val="6C8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0" y="2880360"/>
            <a:ext cx="1188720" cy="1417320"/>
          </a:xfrm>
          <a:prstGeom prst="line">
            <a:avLst/>
          </a:prstGeom>
          <a:ln w="15240">
            <a:solidFill>
              <a:srgbClr val="6C8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01000" y="1783080"/>
            <a:ext cx="3401568" cy="1033271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1956816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TIME SLIDER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2267712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5F7FB"/>
                </a:solidFill>
                <a:latin typeface="Aptos"/>
              </a:rPr>
              <a:t>Who is here right now?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3017520"/>
            <a:ext cx="3401568" cy="1033271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3191256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Aptos"/>
              </a:rPr>
              <a:t>BUILDING DETAIL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3502152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Hours · lectures · occupants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251960"/>
            <a:ext cx="3401568" cy="1033271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4425696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4D5E"/>
                </a:solidFill>
                <a:latin typeface="Aptos"/>
              </a:rPr>
              <a:t>STUDENT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4736592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Trace visits in time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04 · WHEN?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Timeline · follow the day from morning to night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“The timeline aligns visits by building and time. A vertical replay line moves across all activity.”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64208"/>
            <a:ext cx="10771632" cy="411480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74519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BUILDING / TIME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03120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07:00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3339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43299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10:00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19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83479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13:00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43700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23660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16:00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83879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3840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19:00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24060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04020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22:00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064240" y="2304288"/>
            <a:ext cx="0" cy="2999232"/>
          </a:xfrm>
          <a:prstGeom prst="line">
            <a:avLst/>
          </a:prstGeom>
          <a:ln w="8890">
            <a:solidFill>
              <a:srgbClr val="26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744200" y="2048256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01:00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578608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Boyd Orr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23160" y="2852928"/>
            <a:ext cx="8641080" cy="0"/>
          </a:xfrm>
          <a:prstGeom prst="line">
            <a:avLst/>
          </a:prstGeom>
          <a:ln w="12700">
            <a:solidFill>
              <a:srgbClr val="25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83279" y="2660904"/>
            <a:ext cx="1440179" cy="36576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63415" y="2660904"/>
            <a:ext cx="600075" cy="365760"/>
          </a:xfrm>
          <a:prstGeom prst="roundRect">
            <a:avLst>
              <a:gd name="adj" fmla="val 12000"/>
            </a:avLst>
          </a:prstGeom>
          <a:solidFill>
            <a:srgbClr val="FF4D5E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99531" y="2660904"/>
            <a:ext cx="864108" cy="36576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355848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Library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23160" y="3630168"/>
            <a:ext cx="8641080" cy="0"/>
          </a:xfrm>
          <a:prstGeom prst="line">
            <a:avLst/>
          </a:prstGeom>
          <a:ln w="12700">
            <a:solidFill>
              <a:srgbClr val="25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35723" y="3438144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FF4D5E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23760" y="3438144"/>
            <a:ext cx="1200150" cy="36576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67928" y="3438144"/>
            <a:ext cx="624078" cy="365760"/>
          </a:xfrm>
          <a:prstGeom prst="roundRect">
            <a:avLst>
              <a:gd name="adj" fmla="val 12000"/>
            </a:avLst>
          </a:prstGeom>
          <a:solidFill>
            <a:srgbClr val="9B5DE5"/>
          </a:solidFill>
          <a:ln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133088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Kelvingrove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23160" y="4407408"/>
            <a:ext cx="8641080" cy="0"/>
          </a:xfrm>
          <a:prstGeom prst="line">
            <a:avLst/>
          </a:prstGeom>
          <a:ln w="12700">
            <a:solidFill>
              <a:srgbClr val="25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55214" y="4215384"/>
            <a:ext cx="336041" cy="36576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095244" y="4215384"/>
            <a:ext cx="1056131" cy="365760"/>
          </a:xfrm>
          <a:prstGeom prst="roundRect">
            <a:avLst>
              <a:gd name="adj" fmla="val 12000"/>
            </a:avLst>
          </a:prstGeom>
          <a:solidFill>
            <a:srgbClr val="FF4D5E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19471" y="4215384"/>
            <a:ext cx="1008126" cy="36576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4910328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The Hive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23160" y="5184648"/>
            <a:ext cx="8641080" cy="0"/>
          </a:xfrm>
          <a:prstGeom prst="line">
            <a:avLst/>
          </a:prstGeom>
          <a:ln w="12700">
            <a:solidFill>
              <a:srgbClr val="25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72066" y="4992624"/>
            <a:ext cx="1296161" cy="365760"/>
          </a:xfrm>
          <a:prstGeom prst="roundRect">
            <a:avLst>
              <a:gd name="adj" fmla="val 12000"/>
            </a:avLst>
          </a:prstGeom>
          <a:solidFill>
            <a:srgbClr val="FF4D5E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55963" y="4992624"/>
            <a:ext cx="768096" cy="365760"/>
          </a:xfrm>
          <a:prstGeom prst="roundRect">
            <a:avLst>
              <a:gd name="adj" fmla="val 12000"/>
            </a:avLst>
          </a:prstGeom>
          <a:solidFill>
            <a:srgbClr val="9B5DE5"/>
          </a:solidFill>
          <a:ln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463790" y="2322576"/>
            <a:ext cx="0" cy="3035808"/>
          </a:xfrm>
          <a:prstGeom prst="line">
            <a:avLst/>
          </a:prstGeom>
          <a:ln w="2540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16318" y="539496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D166"/>
                </a:solidFill>
                <a:latin typeface="Aptos"/>
              </a:rPr>
              <a:t>REPLAY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596128"/>
            <a:ext cx="91440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A8B3C7"/>
                </a:solidFill>
                <a:latin typeface="Aptos"/>
              </a:rPr>
              <a:t>Bars = visits   ·   Red marks = flagged evidence   ·   Vertical line = replay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05 · WHO?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Network · reveal relationships, inspect the links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“The network distinguishes a person from a meeting. Scott’s six distinct contacts met at different places and times.”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6537960" cy="4160520"/>
          </a:xfrm>
          <a:prstGeom prst="roundRect">
            <a:avLst>
              <a:gd name="adj" fmla="val 12000"/>
            </a:avLst>
          </a:prstGeom>
          <a:solidFill>
            <a:srgbClr val="0D1727"/>
          </a:solidFill>
          <a:ln>
            <a:solidFill>
              <a:srgbClr val="24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057400" y="2606040"/>
            <a:ext cx="1856232" cy="1115568"/>
          </a:xfrm>
          <a:prstGeom prst="line">
            <a:avLst/>
          </a:prstGeom>
          <a:ln w="19050">
            <a:solidFill>
              <a:srgbClr val="8B7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847088" y="2395728"/>
            <a:ext cx="420624" cy="420624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2889504"/>
            <a:ext cx="10607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Contact 1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794760" y="2148840"/>
            <a:ext cx="118872" cy="1572768"/>
          </a:xfrm>
          <a:prstGeom prst="line">
            <a:avLst/>
          </a:prstGeom>
          <a:ln w="19050">
            <a:solidFill>
              <a:srgbClr val="8B7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84448" y="1938528"/>
            <a:ext cx="420624" cy="420624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2432304"/>
            <a:ext cx="10607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Contact 2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13632" y="2670048"/>
            <a:ext cx="1755648" cy="1051560"/>
          </a:xfrm>
          <a:prstGeom prst="line">
            <a:avLst/>
          </a:prstGeom>
          <a:ln w="19050">
            <a:solidFill>
              <a:srgbClr val="8B7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458968" y="2459736"/>
            <a:ext cx="420624" cy="420624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953512"/>
            <a:ext cx="10607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Contact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13632" y="3721608"/>
            <a:ext cx="1938528" cy="923544"/>
          </a:xfrm>
          <a:prstGeom prst="line">
            <a:avLst/>
          </a:prstGeom>
          <a:ln w="19050">
            <a:solidFill>
              <a:srgbClr val="8B7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641848" y="4434840"/>
            <a:ext cx="420624" cy="420624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4928616"/>
            <a:ext cx="10607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Contact 4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886200" y="3721608"/>
            <a:ext cx="27432" cy="1353312"/>
          </a:xfrm>
          <a:prstGeom prst="line">
            <a:avLst/>
          </a:prstGeom>
          <a:ln w="19050">
            <a:solidFill>
              <a:srgbClr val="8B7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675887" y="4864607"/>
            <a:ext cx="420624" cy="420624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5358383"/>
            <a:ext cx="10607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Contact 5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938528" y="3721608"/>
            <a:ext cx="1975104" cy="960120"/>
          </a:xfrm>
          <a:prstGeom prst="line">
            <a:avLst/>
          </a:prstGeom>
          <a:ln w="19050">
            <a:solidFill>
              <a:srgbClr val="8B7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728216" y="4471416"/>
            <a:ext cx="420624" cy="420624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4965192"/>
            <a:ext cx="10607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A8B3C7"/>
                </a:solidFill>
                <a:latin typeface="Aptos"/>
              </a:rPr>
              <a:t>Contact 6</a:t>
            </a:r>
          </a:p>
        </p:txBody>
      </p:sp>
      <p:sp>
        <p:nvSpPr>
          <p:cNvPr id="28" name="Oval 27"/>
          <p:cNvSpPr/>
          <p:nvPr/>
        </p:nvSpPr>
        <p:spPr>
          <a:xfrm>
            <a:off x="3584448" y="3392424"/>
            <a:ext cx="658368" cy="658368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2112" y="4160520"/>
            <a:ext cx="146304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D166"/>
                </a:solidFill>
                <a:latin typeface="Aptos"/>
              </a:rPr>
              <a:t>Clean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190195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6 distinct people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1810512"/>
            <a:ext cx="3858768" cy="102412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199339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COUNT PEOPLE, NOT 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286000"/>
            <a:ext cx="3291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5F7FB"/>
                </a:solidFill>
                <a:latin typeface="Aptos"/>
              </a:rPr>
              <a:t>Many meetings can link to one person.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3090672"/>
            <a:ext cx="3858768" cy="102412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27355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Aptos"/>
              </a:rPr>
              <a:t>FILTER BY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566160"/>
            <a:ext cx="3291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5F7FB"/>
                </a:solidFill>
                <a:latin typeface="Aptos"/>
              </a:rPr>
              <a:t>Replay time controls visible meetings.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370832"/>
            <a:ext cx="3858768" cy="102412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55371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4D5E"/>
                </a:solidFill>
                <a:latin typeface="Aptos"/>
              </a:rPr>
              <a:t>CHECK THE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846320"/>
            <a:ext cx="3291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5F7FB"/>
                </a:solidFill>
                <a:latin typeface="Aptos"/>
              </a:rPr>
              <a:t>Open a person to inspect meetings.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641848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A8B3C7"/>
                </a:solidFill>
                <a:latin typeface="Aptos"/>
              </a:rPr>
              <a:t>Live case: six distinct conspirators · meetings span four buildings and multiple times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06 · HOW IT FEELS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One replay control keeps the investigation in sync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“The time slider is shared: moving it updates the evidence views together, including after midnight.”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44200" cy="132588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2024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A8B3C7"/>
                </a:solidFill>
                <a:latin typeface="Aptos"/>
              </a:rPr>
              <a:t>07:00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487168"/>
            <a:ext cx="8458200" cy="0"/>
          </a:xfrm>
          <a:prstGeom prst="line">
            <a:avLst/>
          </a:prstGeom>
          <a:ln w="635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5564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6440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7316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8192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9068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9944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13848" y="2414016"/>
            <a:ext cx="146304" cy="146304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322576"/>
            <a:ext cx="329184" cy="329184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8192" y="1938528"/>
            <a:ext cx="1097280" cy="329184"/>
          </a:xfrm>
          <a:prstGeom prst="roundRect">
            <a:avLst>
              <a:gd name="adj" fmla="val 12000"/>
            </a:avLst>
          </a:prstGeom>
          <a:solidFill>
            <a:srgbClr val="293149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975104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D166"/>
                </a:solidFill>
                <a:latin typeface="Aptos"/>
              </a:rPr>
              <a:t>17:30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743200"/>
            <a:ext cx="1600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A8B3C7"/>
                </a:solidFill>
                <a:latin typeface="Aptos"/>
              </a:rPr>
              <a:t>00:48 next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5204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0704" y="3749040"/>
            <a:ext cx="182880" cy="182880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3675887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Play / pause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0624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Watch the day unfold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5204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749040"/>
            <a:ext cx="182880" cy="182880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3675887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Scrub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20624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Inspect a chosen moment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5204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12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67344" y="3749040"/>
            <a:ext cx="182880" cy="182880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6528" y="3675887"/>
            <a:ext cx="23774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0624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Focus on flagged 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1014984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5F7FB"/>
                </a:solidFill>
                <a:latin typeface="Aptos"/>
              </a:rPr>
              <a:t>Design goal: useful under pressure, readable at a glance, detailed on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07 · DATA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Trust comes from showing the source, not just the answer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“Names and verdicts come from the case data. The visualisations show why a connection or flag appears.”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98424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47672"/>
            <a:ext cx="3886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5F7FB"/>
                </a:solidFill>
                <a:latin typeface="Aptos"/>
              </a:rPr>
              <a:t>Same case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77440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All three views read the shared Case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98424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947672"/>
            <a:ext cx="3886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5F7FB"/>
                </a:solidFill>
                <a:latin typeface="Aptos"/>
              </a:rPr>
              <a:t>Correct time axis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77440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Minutes since midnight keep post-midnight visits in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58444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47872"/>
            <a:ext cx="3886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5F7FB"/>
                </a:solidFill>
                <a:latin typeface="Aptos"/>
              </a:rPr>
              <a:t>Explainable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A meeting has a place, time window, and duration.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3832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358444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47872"/>
            <a:ext cx="3886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5F7FB"/>
                </a:solidFill>
                <a:latin typeface="Aptos"/>
              </a:rPr>
              <a:t>Responsive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977640"/>
            <a:ext cx="397763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Aptos"/>
              </a:rPr>
              <a:t>The graph avoids restarting its force layout on every scrub.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38928"/>
            <a:ext cx="10744200" cy="502920"/>
          </a:xfrm>
          <a:prstGeom prst="roundRect">
            <a:avLst>
              <a:gd name="adj" fmla="val 12000"/>
            </a:avLst>
          </a:prstGeom>
          <a:solidFill>
            <a:srgbClr val="132039"/>
          </a:solidFill>
          <a:ln>
            <a:solidFill>
              <a:srgbClr val="23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239512"/>
            <a:ext cx="10287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D166"/>
                </a:solidFill>
                <a:latin typeface="Aptos"/>
              </a:rPr>
              <a:t>The graph count is six distinct contacts; the individual meeting records remain separate.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08 · SUGGESTED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A 30-second demo: move, compare, explain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“I’ll start with where, scrub to when, then reveal who is connected and open one meeting for its evidence.”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09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801368"/>
            <a:ext cx="365760" cy="365760"/>
          </a:xfrm>
          <a:prstGeom prst="ellipse">
            <a:avLst/>
          </a:prstGeom>
          <a:solidFill>
            <a:srgbClr val="2EC4B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847088"/>
            <a:ext cx="21945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3736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Aptos"/>
              </a:rPr>
              <a:t>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19072"/>
            <a:ext cx="75895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7FB"/>
                </a:solidFill>
                <a:latin typeface="Aptos"/>
              </a:rPr>
              <a:t>Point to a building; move the replay slider.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715768"/>
            <a:ext cx="365760" cy="365760"/>
          </a:xfrm>
          <a:prstGeom prst="ellipse">
            <a:avLst/>
          </a:prstGeom>
          <a:solidFill>
            <a:srgbClr val="FFD166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761488"/>
            <a:ext cx="21945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5176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Aptos"/>
              </a:rPr>
              <a:t>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633472"/>
            <a:ext cx="75895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7FB"/>
                </a:solidFill>
                <a:latin typeface="Aptos"/>
              </a:rPr>
              <a:t>Show visits and the replay line at that moment.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630168"/>
            <a:ext cx="365760" cy="365760"/>
          </a:xfrm>
          <a:prstGeom prst="ellipse">
            <a:avLst/>
          </a:prstGeom>
          <a:solidFill>
            <a:srgbClr val="9B5DE5"/>
          </a:solidFill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675887"/>
            <a:ext cx="21945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6616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9B5DE5"/>
                </a:solidFill>
                <a:latin typeface="Aptos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547872"/>
            <a:ext cx="75895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7FB"/>
                </a:solidFill>
                <a:latin typeface="Aptos"/>
              </a:rPr>
              <a:t>Reveal the clean record and count six distinct contacts.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4544568"/>
            <a:ext cx="365760" cy="365760"/>
          </a:xfrm>
          <a:prstGeom prst="ellipse">
            <a:avLst/>
          </a:prstGeom>
          <a:solidFill>
            <a:srgbClr val="FF4D5E"/>
          </a:solidFill>
          <a:ln w="1524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590288"/>
            <a:ext cx="21945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48056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4D5E"/>
                </a:solidFill>
                <a:latin typeface="Aptos"/>
              </a:rPr>
              <a:t>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462272"/>
            <a:ext cx="75895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7FB"/>
                </a:solidFill>
                <a:latin typeface="Aptos"/>
              </a:rPr>
              <a:t>Open a meeting to show place, time, and duration.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2011680"/>
            <a:ext cx="0" cy="2743200"/>
          </a:xfrm>
          <a:prstGeom prst="line">
            <a:avLst/>
          </a:prstGeom>
          <a:ln w="19050">
            <a:solidFill>
              <a:srgbClr val="31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5486400"/>
            <a:ext cx="10744200" cy="384048"/>
          </a:xfrm>
          <a:prstGeom prst="roundRect">
            <a:avLst>
              <a:gd name="adj" fmla="val 12000"/>
            </a:avLst>
          </a:prstGeom>
          <a:solidFill>
            <a:srgbClr val="182238"/>
          </a:solidFill>
          <a:ln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532120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D166"/>
                </a:solidFill>
                <a:latin typeface="Aptos"/>
              </a:rPr>
              <a:t>Closing line: “The point is not just to find a pattern — it’s to let you verify it.”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09 · JUDGE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Questions? Here are clear answers.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6062472"/>
            <a:ext cx="11000232" cy="48463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26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14476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FFD166"/>
                </a:solidFill>
                <a:latin typeface="Aptos"/>
              </a:rPr>
              <a:t>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6108192"/>
            <a:ext cx="10040112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8B3C7"/>
                </a:solidFill>
                <a:latin typeface="Aptos"/>
              </a:rPr>
              <a:t>Pause, listen, answer directly. If asked about a limit, explain what the data can and cannot 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611112"/>
            <a:ext cx="1092708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78869E"/>
                </a:solidFill>
                <a:latin typeface="Aptos"/>
              </a:rPr>
              <a:t>P5 · FRONTEND VISUALISATIONS                                    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627632"/>
            <a:ext cx="10680192" cy="65836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00784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Aptos"/>
              </a:rPr>
              <a:t>Why three views?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82496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Each answers one question: where, when, or who. Together they let you cross-check the same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432304"/>
            <a:ext cx="10680192" cy="65836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505456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Aptos"/>
              </a:rPr>
              <a:t>How do you know it’s six?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87168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The case lists six distinct conspirator IDs. The graph can show many meeting links, so I count unique people.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236976"/>
            <a:ext cx="10680192" cy="65836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310128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Aptos"/>
              </a:rPr>
              <a:t>Did they all meet at one place and time?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91840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No. Their recorded meetings span four buildings and different time windows. Each link keeps its own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4041648"/>
            <a:ext cx="10680192" cy="65836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114800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Aptos"/>
              </a:rPr>
              <a:t>How do you handle after midnight?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96511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Times use minutes from midnight. A visit after midnight continues past 1,440, so it stays in sequence.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846320"/>
            <a:ext cx="10680192" cy="658368"/>
          </a:xfrm>
          <a:prstGeom prst="roundRect">
            <a:avLst>
              <a:gd name="adj" fmla="val 12000"/>
            </a:avLst>
          </a:prstGeom>
          <a:solidFill>
            <a:srgbClr val="121A2C"/>
          </a:solidFill>
          <a:ln>
            <a:solidFill>
              <a:srgbClr val="2A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919472"/>
            <a:ext cx="3794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Aptos"/>
              </a:rPr>
              <a:t>Can this work on another case?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901183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The charts use the shared case contract and derive labels and links from data, not fixed student names.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3327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EC4B6"/>
                </a:solidFill>
                <a:latin typeface="Aptos"/>
              </a:rPr>
              <a:t>If you don’t know: “I’d verify that against the source record before claiming it.”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